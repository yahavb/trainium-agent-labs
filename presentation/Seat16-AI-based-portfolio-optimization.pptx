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1f65a54-e637-1f9e-73a3-5ed6d62c747a}">
          <p14:sldIdLst>
            <p14:sldId id="256"/>
          </p14:sldIdLst>
        </p14:section>
        <p14:section name="Problem and loop" id="{2fc56e46-acb5-d551-593c-c8ce3c733498}">
          <p14:sldIdLst>
            <p14:sldId id="257"/>
            <p14:sldId id="258"/>
          </p14:sldIdLst>
        </p14:section>
        <p14:section name="Checker and data" id="{1f36beec-0bfd-369d-ddd9-0a92031b8262}">
          <p14:sldIdLst>
            <p14:sldId id="259"/>
            <p14:sldId id="260"/>
          </p14:sldIdLst>
        </p14:section>
        <p14:section name="Results" id="{b947c974-4e8d-948b-ee05-55fa17d9291b}">
          <p14:sldIdLst>
            <p14:sldId id="261"/>
            <p14:sldId id="262"/>
            <p14:sldId id="263"/>
          </p14:sldIdLst>
        </p14:section>
        <p14:section name="Evidence and lessons" id="{6cafc7ab-c075-1880-86a4-1b84e3f422c8}">
          <p14:sldIdLst>
            <p14:sldId id="264"/>
            <p14:sldId id="265"/>
            <p14:sldId id="266"/>
            <p14:sldId id="267"/>
          </p14:sldIdLst>
        </p14:section>
        <p14:section name="Close" id="{362b5f6a-dc41-f1ba-4f94-96cfba849410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passing so far (AI)</c:v>
                </c:pt>
              </c:strCache>
            </c:strRef>
          </c:tx>
          <c:spPr>
            <a:solidFill>
              <a:srgbClr val="F2A541"/>
            </a:solidFill>
            <a:ln w="2540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Sheet1!$A$2:$A$51</c:f>
              <c:multiLvlStrCache>
                <c:ptCount val="5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</c:lvl>
              </c:multiLvlStrCache>
            </c:multiLvl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/>
                </c:pt>
                <c:pt idx="1">
                  <c:v>1.0753</c:v>
                </c:pt>
                <c:pt idx="2">
                  <c:v>1.0753</c:v>
                </c:pt>
                <c:pt idx="3">
                  <c:v>1.0753</c:v>
                </c:pt>
                <c:pt idx="4">
                  <c:v>1.0753</c:v>
                </c:pt>
                <c:pt idx="5">
                  <c:v>1.0753</c:v>
                </c:pt>
                <c:pt idx="6">
                  <c:v>1.0753</c:v>
                </c:pt>
                <c:pt idx="7">
                  <c:v>1.0753</c:v>
                </c:pt>
                <c:pt idx="8">
                  <c:v>1.0753</c:v>
                </c:pt>
                <c:pt idx="9">
                  <c:v>1.0753</c:v>
                </c:pt>
                <c:pt idx="10">
                  <c:v>1.0208</c:v>
                </c:pt>
                <c:pt idx="11">
                  <c:v>1.0208</c:v>
                </c:pt>
                <c:pt idx="12">
                  <c:v>1.0208</c:v>
                </c:pt>
                <c:pt idx="13">
                  <c:v>1.0208</c:v>
                </c:pt>
                <c:pt idx="14">
                  <c:v>1.0208</c:v>
                </c:pt>
                <c:pt idx="15">
                  <c:v>1.0208</c:v>
                </c:pt>
                <c:pt idx="16">
                  <c:v>1.0208</c:v>
                </c:pt>
                <c:pt idx="17">
                  <c:v>1.0208</c:v>
                </c:pt>
                <c:pt idx="18">
                  <c:v>1.0208</c:v>
                </c:pt>
                <c:pt idx="19">
                  <c:v>1.0208</c:v>
                </c:pt>
                <c:pt idx="20">
                  <c:v>1.0208</c:v>
                </c:pt>
                <c:pt idx="21">
                  <c:v>1.0208</c:v>
                </c:pt>
                <c:pt idx="22">
                  <c:v>1.0208</c:v>
                </c:pt>
                <c:pt idx="23">
                  <c:v>1.0208</c:v>
                </c:pt>
                <c:pt idx="24">
                  <c:v>1.0208</c:v>
                </c:pt>
                <c:pt idx="25">
                  <c:v>1.0208</c:v>
                </c:pt>
                <c:pt idx="26">
                  <c:v>1.0208</c:v>
                </c:pt>
                <c:pt idx="27">
                  <c:v>1.0208</c:v>
                </c:pt>
                <c:pt idx="28">
                  <c:v>1.0208</c:v>
                </c:pt>
                <c:pt idx="29">
                  <c:v>1.0208</c:v>
                </c:pt>
                <c:pt idx="30">
                  <c:v>1.0208</c:v>
                </c:pt>
                <c:pt idx="31">
                  <c:v>1.0208</c:v>
                </c:pt>
                <c:pt idx="32">
                  <c:v>1.0208</c:v>
                </c:pt>
                <c:pt idx="33">
                  <c:v>1.0208</c:v>
                </c:pt>
                <c:pt idx="34">
                  <c:v>1.0208</c:v>
                </c:pt>
                <c:pt idx="35">
                  <c:v>1.0208</c:v>
                </c:pt>
                <c:pt idx="36">
                  <c:v>1.0208</c:v>
                </c:pt>
                <c:pt idx="37">
                  <c:v>1.0208</c:v>
                </c:pt>
                <c:pt idx="38">
                  <c:v>1.0208</c:v>
                </c:pt>
                <c:pt idx="39">
                  <c:v>1.0208</c:v>
                </c:pt>
                <c:pt idx="40">
                  <c:v>1.0208</c:v>
                </c:pt>
                <c:pt idx="41">
                  <c:v>1.0208</c:v>
                </c:pt>
                <c:pt idx="42">
                  <c:v>1.0208</c:v>
                </c:pt>
                <c:pt idx="43">
                  <c:v>1.0208</c:v>
                </c:pt>
                <c:pt idx="44">
                  <c:v>1.0208</c:v>
                </c:pt>
                <c:pt idx="45">
                  <c:v>1.0208</c:v>
                </c:pt>
                <c:pt idx="46">
                  <c:v>1.0208</c:v>
                </c:pt>
                <c:pt idx="47">
                  <c:v>1.0208</c:v>
                </c:pt>
                <c:pt idx="48">
                  <c:v>1.0208</c:v>
                </c:pt>
                <c:pt idx="49">
                  <c:v>1.0208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Grid winner ($0.985)</c:v>
                </c:pt>
              </c:strCache>
            </c:strRef>
          </c:tx>
          <c:spPr>
            <a:solidFill>
              <a:srgbClr val="2BA7A0"/>
            </a:solidFill>
            <a:ln w="25400" cap="flat">
              <a:solidFill>
                <a:srgbClr val="2BA7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BA7A0"/>
              </a:solidFill>
              <a:ln w="9525" cap="flat">
                <a:solidFill>
                  <a:srgbClr val="2BA7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Sheet1!$A$2:$A$51</c:f>
              <c:multiLvlStrCache>
                <c:ptCount val="5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</c:lvl>
              </c:multiLvlStrCache>
            </c:multiLvlStrRef>
          </c:cat>
          <c:val>
            <c:numRef>
              <c:f>Sheet1!$C$2:$C$51</c:f>
              <c:numCache>
                <c:formatCode>General</c:formatCode>
                <c:ptCount val="50"/>
                <c:pt idx="0">
                  <c:v>0.9853</c:v>
                </c:pt>
                <c:pt idx="1">
                  <c:v>0.9853</c:v>
                </c:pt>
                <c:pt idx="2">
                  <c:v>0.9853</c:v>
                </c:pt>
                <c:pt idx="3">
                  <c:v>0.9853</c:v>
                </c:pt>
                <c:pt idx="4">
                  <c:v>0.9853</c:v>
                </c:pt>
                <c:pt idx="5">
                  <c:v>0.9853</c:v>
                </c:pt>
                <c:pt idx="6">
                  <c:v>0.9853</c:v>
                </c:pt>
                <c:pt idx="7">
                  <c:v>0.9853</c:v>
                </c:pt>
                <c:pt idx="8">
                  <c:v>0.9853</c:v>
                </c:pt>
                <c:pt idx="9">
                  <c:v>0.9853</c:v>
                </c:pt>
                <c:pt idx="10">
                  <c:v>0.9853</c:v>
                </c:pt>
                <c:pt idx="11">
                  <c:v>0.9853</c:v>
                </c:pt>
                <c:pt idx="12">
                  <c:v>0.9853</c:v>
                </c:pt>
                <c:pt idx="13">
                  <c:v>0.9853</c:v>
                </c:pt>
                <c:pt idx="14">
                  <c:v>0.9853</c:v>
                </c:pt>
                <c:pt idx="15">
                  <c:v>0.9853</c:v>
                </c:pt>
                <c:pt idx="16">
                  <c:v>0.9853</c:v>
                </c:pt>
                <c:pt idx="17">
                  <c:v>0.9853</c:v>
                </c:pt>
                <c:pt idx="18">
                  <c:v>0.9853</c:v>
                </c:pt>
                <c:pt idx="19">
                  <c:v>0.9853</c:v>
                </c:pt>
                <c:pt idx="20">
                  <c:v>0.9853</c:v>
                </c:pt>
                <c:pt idx="21">
                  <c:v>0.9853</c:v>
                </c:pt>
                <c:pt idx="22">
                  <c:v>0.9853</c:v>
                </c:pt>
                <c:pt idx="23">
                  <c:v>0.9853</c:v>
                </c:pt>
                <c:pt idx="24">
                  <c:v>0.9853</c:v>
                </c:pt>
                <c:pt idx="25">
                  <c:v>0.9853</c:v>
                </c:pt>
                <c:pt idx="26">
                  <c:v>0.9853</c:v>
                </c:pt>
                <c:pt idx="27">
                  <c:v>0.9853</c:v>
                </c:pt>
                <c:pt idx="28">
                  <c:v>0.9853</c:v>
                </c:pt>
                <c:pt idx="29">
                  <c:v>0.9853</c:v>
                </c:pt>
                <c:pt idx="30">
                  <c:v>0.9853</c:v>
                </c:pt>
                <c:pt idx="31">
                  <c:v>0.9853</c:v>
                </c:pt>
                <c:pt idx="32">
                  <c:v>0.9853</c:v>
                </c:pt>
                <c:pt idx="33">
                  <c:v>0.9853</c:v>
                </c:pt>
                <c:pt idx="34">
                  <c:v>0.9853</c:v>
                </c:pt>
                <c:pt idx="35">
                  <c:v>0.9853</c:v>
                </c:pt>
                <c:pt idx="36">
                  <c:v>0.9853</c:v>
                </c:pt>
                <c:pt idx="37">
                  <c:v>0.9853</c:v>
                </c:pt>
                <c:pt idx="38">
                  <c:v>0.9853</c:v>
                </c:pt>
                <c:pt idx="39">
                  <c:v>0.9853</c:v>
                </c:pt>
                <c:pt idx="40">
                  <c:v>0.9853</c:v>
                </c:pt>
                <c:pt idx="41">
                  <c:v>0.9853</c:v>
                </c:pt>
                <c:pt idx="42">
                  <c:v>0.9853</c:v>
                </c:pt>
                <c:pt idx="43">
                  <c:v>0.9853</c:v>
                </c:pt>
                <c:pt idx="44">
                  <c:v>0.9853</c:v>
                </c:pt>
                <c:pt idx="45">
                  <c:v>0.9853</c:v>
                </c:pt>
                <c:pt idx="46">
                  <c:v>0.9853</c:v>
                </c:pt>
                <c:pt idx="47">
                  <c:v>0.9853</c:v>
                </c:pt>
                <c:pt idx="48">
                  <c:v>0.9853</c:v>
                </c:pt>
                <c:pt idx="49">
                  <c:v>0.9853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AI proposal, pass</c:v>
                </c:pt>
              </c:strCache>
            </c:strRef>
          </c:tx>
          <c:spPr>
            <a:solidFill>
              <a:srgbClr val="F2A541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9"/>
            <c:spPr>
              <a:solidFill>
                <a:srgbClr val="1E3A5F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Sheet1!$A$2:$A$51</c:f>
              <c:multiLvlStrCache>
                <c:ptCount val="5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</c:lvl>
              </c:multiLvlStrCache>
            </c:multiLvlStrRef>
          </c:cat>
          <c:val>
            <c:numRef>
              <c:f>Sheet1!$D$2:$D$51</c:f>
              <c:numCache>
                <c:formatCode>General</c:formatCode>
                <c:ptCount val="50"/>
                <c:pt idx="0">
                  <c:v/>
                </c:pt>
                <c:pt idx="1">
                  <c:v>1.0753</c:v>
                </c:pt>
                <c:pt idx="2">
                  <c:v>1.2274</c:v>
                </c:pt>
                <c:pt idx="3">
                  <c:v>1.0775</c:v>
                </c:pt>
                <c:pt idx="4">
                  <c:v>1.224</c:v>
                </c:pt>
                <c:pt idx="5">
                  <c:v/>
                </c:pt>
                <c:pt idx="6">
                  <c:v/>
                </c:pt>
                <c:pt idx="7">
                  <c:v>1.0786</c:v>
                </c:pt>
                <c:pt idx="8">
                  <c:v>1.0779</c:v>
                </c:pt>
                <c:pt idx="9">
                  <c:v/>
                </c:pt>
                <c:pt idx="10">
                  <c:v>1.0208</c:v>
                </c:pt>
                <c:pt idx="11">
                  <c:v>1.0597</c:v>
                </c:pt>
                <c:pt idx="12">
                  <c:v>1.0932</c:v>
                </c:pt>
                <c:pt idx="13">
                  <c:v>1.1133</c:v>
                </c:pt>
                <c:pt idx="14">
                  <c:v>1.0953</c:v>
                </c:pt>
                <c:pt idx="15">
                  <c:v>1.1532</c:v>
                </c:pt>
                <c:pt idx="16">
                  <c:v>1.1962</c:v>
                </c:pt>
                <c:pt idx="17">
                  <c:v>1.1509</c:v>
                </c:pt>
                <c:pt idx="18">
                  <c:v/>
                </c:pt>
                <c:pt idx="19">
                  <c:v>1.0463</c:v>
                </c:pt>
                <c:pt idx="20">
                  <c:v/>
                </c:pt>
                <c:pt idx="21">
                  <c:v>1.0982</c:v>
                </c:pt>
                <c:pt idx="22">
                  <c:v>1.117</c:v>
                </c:pt>
                <c:pt idx="23">
                  <c:v>1.0975</c:v>
                </c:pt>
                <c:pt idx="24">
                  <c:v/>
                </c:pt>
                <c:pt idx="25">
                  <c:v>1.1964</c:v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1.1584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AI proposal, fail</c:v>
                </c:pt>
              </c:strCache>
            </c:strRef>
          </c:tx>
          <c:spPr>
            <a:solidFill>
              <a:srgbClr val="2BA7A0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9"/>
            <c:spPr>
              <a:solidFill>
                <a:srgbClr val="C8463D"/>
              </a:solidFill>
              <a:ln w="9525" cap="flat">
                <a:solidFill>
                  <a:srgbClr val="2BA7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Sheet1!$A$2:$A$51</c:f>
              <c:multiLvlStrCache>
                <c:ptCount val="5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</c:lvl>
              </c:multiLvlStrCache>
            </c:multiLvlStrRef>
          </c:cat>
          <c:val>
            <c:numRef>
              <c:f>Sheet1!$E$2:$E$51</c:f>
              <c:numCache>
                <c:formatCode>General</c:formatCode>
                <c:ptCount val="50"/>
                <c:pt idx="0">
                  <c:v>0.9017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0.9377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0.9796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F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6B7F"/>
                    </a:solidFill>
                    <a:latin typeface="+mn-lt"/>
                  </a:rPr>
                  <a:t>Proposal number (model call)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5"/>
      </c:catAx>
      <c:valAx>
        <c:axId val="2094734552"/>
        <c:scaling>
          <c:orientation val="minMax"/>
          <c:max val="1.25"/>
          <c:min val="0.85"/>
        </c:scaling>
        <c:delete val="0"/>
        <c:axPos val="l"/>
        <c:majorGridlines>
          <c:spPr>
            <a:ln w="9525" cap="flat">
              <a:solidFill>
                <a:srgbClr val="E3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F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6B7F"/>
                    </a:solidFill>
                    <a:latin typeface="+mn-lt"/>
                  </a:rPr>
                  <a:t>Mean base fees, search paths</a:t>
                </a:r>
              </a:p>
            </c:rich>
          </c:tx>
          <c:layout/>
          <c:overlay val="0"/>
        </c:title>
        <c:numFmt formatCode="$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3A5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3A5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3A5F"/>
                </a:solidFill>
                <a:latin typeface="+mn-lt"/>
              </a:rPr>
              <a:t>Mean trading fees per simulated year, fresh base paths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Fresh base fees</c:v>
                </c:pt>
              </c:strCache>
            </c:strRef>
          </c:tx>
          <c:spPr>
            <a:solidFill>
              <a:srgbClr val="5B6B7F"/>
            </a:solidFill>
            <a:effectLst/>
          </c:spPr>
          <c:invertIfNegative val="0"/>
          <c:dLbls>
            <c:numFmt formatCode="$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F1B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6B7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BA7A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Daily hedge (0, 0)</c:v>
                  </c:pt>
                  <c:pt idx="1">
                    <c:v>Fixed band (0.10, 0)</c:v>
                  </c:pt>
                  <c:pt idx="2">
                    <c:v>AI (0.18, 11)</c:v>
                  </c:pt>
                  <c:pt idx="3">
                    <c:v>Grid (0.20, 20)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2.251</c:v>
                </c:pt>
                <c:pt idx="1">
                  <c:v>1.21</c:v>
                </c:pt>
                <c:pt idx="2">
                  <c:v>1.022</c:v>
                </c:pt>
                <c:pt idx="3">
                  <c:v>0.981</c:v>
                </c:pt>
              </c:numCache>
            </c:numRef>
          </c:val>
        </c:ser>
        <c:dLbls>
          <c:numFmt formatCode="$0.000" sourceLinked="0"/>
          <c:txPr>
            <a:bodyPr/>
            <a:lstStyle/>
            <a:p>
              <a:pPr>
                <a:defRPr b="0" i="0" strike="noStrike" sz="1300" u="none">
                  <a:solidFill>
                    <a:srgbClr val="0F1B2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seat 16. Our project: an agent loop where Qwen3-8B, served on our Trainium chip, proposes the two parameters of a hedging policy, and a deterministic simulator plus risk checker grades each proposal and returns the reason it failed. The question is whether the loop finds cheaper hedges than simple rules or a numerical grid, without breaking risk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b0 is the normal tolerance in shares between the Black-Scholes delta and what we hold; k tightens the band after the portfolio falls from its peak. Objective is fees; constraints are tail-risk limits evaluated with CVaR at 95%, i.e. the average of the worst 100 of 2,000 simulated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the challenge brief: attempt, check, grade plus reason, next attempt. The checker runs on CPU; the model is the local Qwen3-8B served by vLLM-Neuron on the seat's chip. Thinking was disabled, following the brief's measurement that thinking mode costs far more time than it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says the checker, not the model, decides whether the loop works. Ours names the failed limit and the group, and gives a scalar distance to feasibility. What it does not yet say is which direction to move b0 or k; that gap shows up later as repeated proposals.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Merton-style jump diffusion under the physical measure: Poisson jump counts, normal log jump sizes, compensated drift. Historical prices only fit parameters; all test paths are synthetic. Fresh test paths use seeds offset by one million.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Proposal 1 was last version's winner, (0.25, 15); it failed the tighter $50 loss limit. The model found (0.18, 11) at proposal 11 and never improved. After proposal 30 it alternated between two already-evaluated policies for 20 calls: every one rejected as a duplicate.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AI's choice rebalances about 5 times a year versus 244 for daily hedging. The grid winner, (0.20, 20), is slightly cheaper still. Search-to-fresh drift was at most half a cent for every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Worst = the larger of the base and more-jumps groups on fresh paths. The grid's lower fee comes with a thinner margin to the loss limit; the AI's choice is a little more conservative.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random numbers make the paired comparison sharp: the fee difference is far outside Monte Carlo noise on these paths. But n = 1 for the AI run, and the brief's own data shows a single run can swing from 0.5 to 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 definitions are illustrative, not industry standards. The Conservative result is the one place the AI's candidate pool beats the grid, and the paired interval excludes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 is the brief's central point in our domain: 'wrong, off by 341 percent' versus 'the term should not be there'. Our feedback is closer to the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volatility point: options are marked with diffusion volatility only, 13.7%, while simulated paths realise about 17.4% including jumps. That gap alone accounts for most of the average shortfall versus the $1,040.81 capital target, for every hedging rule including daily.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map one-to-one to the three deliverables in the challenge brief. Close with the honest headline: the loop works and beats simple rules by 15–55% on fees within limits, the grid still wins at our run limits, and the fix we would make next is in the checker's feedback, not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8229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Seat 16  ·  AI-based portfolio optimization  ·  Hack the Chip — NYU × Annapurna Labs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AI-based portfolio optimization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 small model on our Trainium chip proposes hedging policies; a simulator-based checker grades every attempt and tells it why</a:t>
            </a:r>
            <a:endParaRPr lang="en-US" sz="2000" dirty="0"/>
          </a:p>
        </p:txBody>
      </p:sp>
      <p:sp>
        <p:nvSpPr>
          <p:cNvPr id="4" name="badge 16"/>
          <p:cNvSpPr/>
          <p:nvPr/>
        </p:nvSpPr>
        <p:spPr>
          <a:xfrm>
            <a:off x="731520" y="50749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5074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16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50749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Seat 16</a:t>
            </a:r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   ·   Hack the Chip — NYU × Annapurna Labs   ·   10 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problem: hedge cheaply without breaking risk limits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We sold one at-the-money European call on SPY and must hedge it with shares for a year.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Every rebalance costs fees. Rebalancing rarely saves fees but lets tail losses grow.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agent chooses only two numbers. Python executes trades and decides pass or fail.</a:t>
            </a:r>
            <a:endParaRPr lang="en-US" sz="1800" dirty="0"/>
          </a:p>
        </p:txBody>
      </p:sp>
      <p:sp>
        <p:nvSpPr>
          <p:cNvPr id="4" name="objective card"/>
          <p:cNvSpPr/>
          <p:nvPr/>
        </p:nvSpPr>
        <p:spPr>
          <a:xfrm>
            <a:off x="6126480" y="1325880"/>
            <a:ext cx="548640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355080" y="146304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policy (b0, k)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= b0 / (1 + k · drawdown);  rebalance to delta when |delta − shares| &gt; band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 mean trading fees on base paths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to, in every scenario group: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CVaR95 ≤ 10%     terminal-loss CVaR95 ≤ $50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≥ $0     equity &gt; $0 at every observation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262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57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investor capital per short call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64992" y="45262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$778.57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364992" y="5257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spot = strike (SPY close, 9 Oct 2026)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181344" y="45262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181344" y="5257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search paths per candidate (2 groups × 2,000)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997696" y="45262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bp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8997696" y="5257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fee on every share traded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loop: propose, validate, simulate, check, explain</a:t>
            </a:r>
            <a:endParaRPr lang="en-US" sz="3200" dirty="0"/>
          </a:p>
        </p:txBody>
      </p:sp>
      <p:sp>
        <p:nvSpPr>
          <p:cNvPr id="3" name="step Propose"/>
          <p:cNvSpPr/>
          <p:nvPr/>
        </p:nvSpPr>
        <p:spPr>
          <a:xfrm>
            <a:off x="548640" y="1508760"/>
            <a:ext cx="1920240" cy="2514600"/>
          </a:xfrm>
          <a:prstGeom prst="roundRect">
            <a:avLst>
              <a:gd name="adj" fmla="val 3810"/>
            </a:avLst>
          </a:prstGeom>
          <a:solidFill>
            <a:srgbClr val="FDF1DE"/>
          </a:solidFill>
          <a:ln w="12700">
            <a:solidFill>
              <a:srgbClr val="FDF1DE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731520" y="16916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9164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Propose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8600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Qwen3-8B on our Trainium chip returns JSON {b0, k}. Thinking off, temperature 0.6</a:t>
            </a:r>
            <a:endParaRPr lang="en-US" sz="1400" dirty="0"/>
          </a:p>
        </p:txBody>
      </p:sp>
      <p:sp>
        <p:nvSpPr>
          <p:cNvPr id="8" name="arrow 0"/>
          <p:cNvSpPr/>
          <p:nvPr/>
        </p:nvSpPr>
        <p:spPr>
          <a:xfrm>
            <a:off x="2532888" y="2624328"/>
            <a:ext cx="237744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step Validate"/>
          <p:cNvSpPr/>
          <p:nvPr/>
        </p:nvSpPr>
        <p:spPr>
          <a:xfrm>
            <a:off x="2834640" y="1508760"/>
            <a:ext cx="1920240" cy="25146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3017520" y="16916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1691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169164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Validate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28600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Parser rejects malformed, out-of-range and duplicate policies before any simulation</a:t>
            </a:r>
            <a:endParaRPr lang="en-US" sz="1400" dirty="0"/>
          </a:p>
        </p:txBody>
      </p:sp>
      <p:sp>
        <p:nvSpPr>
          <p:cNvPr id="14" name="arrow 1"/>
          <p:cNvSpPr/>
          <p:nvPr/>
        </p:nvSpPr>
        <p:spPr>
          <a:xfrm>
            <a:off x="4818888" y="2624328"/>
            <a:ext cx="237744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step Simulate"/>
          <p:cNvSpPr/>
          <p:nvPr/>
        </p:nvSpPr>
        <p:spPr>
          <a:xfrm>
            <a:off x="5120640" y="1508760"/>
            <a:ext cx="1920240" cy="25146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 3"/>
          <p:cNvSpPr/>
          <p:nvPr/>
        </p:nvSpPr>
        <p:spPr>
          <a:xfrm>
            <a:off x="5303520" y="16916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0" y="1691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169164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Simulate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228600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Trades on frozen SPY jump paths: 2 groups × 2,000 years × 252 days</a:t>
            </a:r>
            <a:endParaRPr lang="en-US" sz="1400" dirty="0"/>
          </a:p>
        </p:txBody>
      </p:sp>
      <p:sp>
        <p:nvSpPr>
          <p:cNvPr id="20" name="arrow 2"/>
          <p:cNvSpPr/>
          <p:nvPr/>
        </p:nvSpPr>
        <p:spPr>
          <a:xfrm>
            <a:off x="7104888" y="2624328"/>
            <a:ext cx="237744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step Check"/>
          <p:cNvSpPr/>
          <p:nvPr/>
        </p:nvSpPr>
        <p:spPr>
          <a:xfrm>
            <a:off x="7406640" y="1508760"/>
            <a:ext cx="1920240" cy="25146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badge 4"/>
          <p:cNvSpPr/>
          <p:nvPr/>
        </p:nvSpPr>
        <p:spPr>
          <a:xfrm>
            <a:off x="7589520" y="16916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9520" y="1691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169164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Check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0" y="228600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Drawdown CVaR, loss CVaR, cash floor and solvency, per scenario group</a:t>
            </a:r>
            <a:endParaRPr lang="en-US" sz="1400" dirty="0"/>
          </a:p>
        </p:txBody>
      </p:sp>
      <p:sp>
        <p:nvSpPr>
          <p:cNvPr id="26" name="arrow 3"/>
          <p:cNvSpPr/>
          <p:nvPr/>
        </p:nvSpPr>
        <p:spPr>
          <a:xfrm>
            <a:off x="9390888" y="2624328"/>
            <a:ext cx="237744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step Explain"/>
          <p:cNvSpPr/>
          <p:nvPr/>
        </p:nvSpPr>
        <p:spPr>
          <a:xfrm>
            <a:off x="9692640" y="1508760"/>
            <a:ext cx="1920240" cy="25146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badge 5"/>
          <p:cNvSpPr/>
          <p:nvPr/>
        </p:nvSpPr>
        <p:spPr>
          <a:xfrm>
            <a:off x="9875520" y="16916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875520" y="1691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0424160" y="169164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Explain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875520" y="228600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Pass/fail, which limit in which group, fee, normalized violation, compact memory</a:t>
            </a:r>
            <a:endParaRPr lang="en-US" sz="1400" dirty="0"/>
          </a:p>
        </p:txBody>
      </p:sp>
      <p:sp>
        <p:nvSpPr>
          <p:cNvPr id="32" name="feedback arrow"/>
          <p:cNvSpPr/>
          <p:nvPr/>
        </p:nvSpPr>
        <p:spPr>
          <a:xfrm>
            <a:off x="1554480" y="4343400"/>
            <a:ext cx="905256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33" name="Text 31"/>
          <p:cNvSpPr txBox="1"/>
          <p:nvPr/>
        </p:nvSpPr>
        <p:spPr>
          <a:xfrm>
            <a:off x="3291840" y="44348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Feedback goes into the next prompt (up to 50 proposals)</a:t>
            </a:r>
            <a:endParaRPr lang="en-US" sz="1400" dirty="0"/>
          </a:p>
        </p:txBody>
      </p:sp>
      <p:sp>
        <p:nvSpPr>
          <p:cNvPr id="34" name="split card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51206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Division of labour: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model chooses parameters; Python computes outcomes and enforces the rules. No weights are trained. The chosen policy is then re-tested on 2,000 fresh paths per group that the search never saw.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Our checker: what it accepts, rejects and says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Rejected without simulation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Not exactly two numeric keys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b0 outside [0, 0.5] or k outside [0, 20]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Exact repeat of an evaluated policy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Costs a model call, not an evaluation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03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Graded on 4,000 frozen paths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Each group checked separately: no averaging away a bad stress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Same paths for every candidate, so grades are deterministic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Reproduced independently: 31/31 metrics match</a:t>
            </a:r>
            <a:endParaRPr lang="en-US" sz="1500" dirty="0"/>
          </a:p>
        </p:txBody>
      </p:sp>
      <p:sp>
        <p:nvSpPr>
          <p:cNvPr id="7" name="feedback card"/>
          <p:cNvSpPr/>
          <p:nvPr/>
        </p:nvSpPr>
        <p:spPr>
          <a:xfrm>
            <a:off x="4480560" y="1280160"/>
            <a:ext cx="7132320" cy="2834640"/>
          </a:xfrm>
          <a:prstGeom prst="roundRect">
            <a:avLst>
              <a:gd name="adj" fmla="val 2581"/>
            </a:avLst>
          </a:prstGeom>
          <a:solidFill>
            <a:srgbClr val="13253A"/>
          </a:solidFill>
          <a:ln w="12700">
            <a:solidFill>
              <a:srgbClr val="1325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9160" y="13716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What the model actually received after proposal 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1783080"/>
            <a:ext cx="66751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"input_configuration": {"base_band": 0.25,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"drawdown_response": 15},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"FAILED",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"message": "Constraint violations: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base: [terminal_loss_cvar],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more_jumps: [terminal_loss_cvar]",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"mean_fees": 0.9017,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"normalized_violation": 0.1454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violation card"/>
          <p:cNvSpPr/>
          <p:nvPr/>
        </p:nvSpPr>
        <p:spPr>
          <a:xfrm>
            <a:off x="4480560" y="4343400"/>
            <a:ext cx="713232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4434840"/>
            <a:ext cx="6675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Normalized violation ranks near-misses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 = Σ over groups of (excess drawdown / 10%) + (excess loss / $50) + (cash shortfall / capital) + insolvency penalty. 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Proposal 1: ($0.31 + $6.96) / $50 = 0.145.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Market: SPY history calibrates a jump model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years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daily SPY, 11 Oct 2021 – 9 Oct 2026 (1,255 prices)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64992" y="1234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3364992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extreme days beyond 3 robust SDs, used as jump proxies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181344" y="1234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6181344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ordinary (diffusion) volatility, also the option's marking volatility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97696" y="1234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8.44 / yr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8997696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fitted jump frequency; mean jump −0.8%, spread 3.6%</a:t>
            </a:r>
            <a:endParaRPr lang="en-US" sz="1400" dirty="0"/>
          </a:p>
        </p:txBody>
      </p:sp>
      <p:sp>
        <p:nvSpPr>
          <p:cNvPr id="11" name="base card"/>
          <p:cNvSpPr/>
          <p:nvPr/>
        </p:nvSpPr>
        <p:spPr>
          <a:xfrm>
            <a:off x="548640" y="3017520"/>
            <a:ext cx="53949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ress card"/>
          <p:cNvSpPr/>
          <p:nvPr/>
        </p:nvSpPr>
        <p:spPr>
          <a:xfrm>
            <a:off x="6217920" y="30175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DF1DE"/>
          </a:solidFill>
          <a:ln w="12700">
            <a:solidFill>
              <a:srgbClr val="FDF1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12724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Base group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Fitted parameters. 8.44 expected jumps per year; 8.49 realised per simulated path. The fee objective is measured here.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12724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More-jumps group (induced stress)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Jump frequency +25% to 10.55 per year; jump sizes unchanged. 10.64 realised per path. Must also pass every limit.</a:t>
            </a:r>
            <a:endParaRPr lang="en-US" sz="2000" dirty="0"/>
          </a:p>
        </p:txBody>
      </p:sp>
      <p:sp>
        <p:nvSpPr>
          <p:cNvPr id="15" name="formula card"/>
          <p:cNvSpPr/>
          <p:nvPr/>
        </p:nvSpPr>
        <p:spPr>
          <a:xfrm>
            <a:off x="548640" y="45262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3253A"/>
          </a:solidFill>
          <a:ln w="12700">
            <a:solidFill>
              <a:srgbClr val="1325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590288"/>
            <a:ext cx="10607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One simulated day  </a:t>
            </a:r>
            <a:endParaRPr lang="en-US" sz="15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log(S_next / S)  =  (μ − λκ − σ²/2)·Δt  +  σ·√Δt·Z  +  sum of N jump sizes;     N ~ Poisson(λ·Δt),  jump ~ Normal(m, s²)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The compensator λκ, with κ = e^(m + s²/2) − 1, keeps the expected return at μ = 14.6% a year whatever the jump frequency.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Attempt log: best policy by proposal 11, then stalls</a:t>
            </a:r>
            <a:endParaRPr lang="en-US" sz="3200" dirty="0"/>
          </a:p>
        </p:txBody>
      </p:sp>
      <p:graphicFrame>
        <p:nvGraphicFramePr>
          <p:cNvPr id="3" name="attempt log chart" descr=""/>
          <p:cNvGraphicFramePr/>
          <p:nvPr/>
        </p:nvGraphicFramePr>
        <p:xfrm>
          <a:off x="548640" y="1234440"/>
          <a:ext cx="7680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595360" y="12344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595360" y="18470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model calls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595360" y="24231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3035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unique policies simulated (20 pass)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6118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4224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exact duplicates, all rejected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595360" y="48006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58,630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8595360" y="54132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tokens in total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Fresh-path result: AI beats simple rules, not the grid</a:t>
            </a:r>
            <a:endParaRPr lang="en-US" sz="3200" dirty="0"/>
          </a:p>
        </p:txBody>
      </p:sp>
      <p:graphicFrame>
        <p:nvGraphicFramePr>
          <p:cNvPr id="3" name="fees bar chart" descr=""/>
          <p:cNvGraphicFramePr/>
          <p:nvPr/>
        </p:nvGraphicFramePr>
        <p:xfrm>
          <a:off x="548640" y="123444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863840" y="12344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−54.6%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19659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fees versus daily hedging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26517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−15.6%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33832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fees versus a fixed 0.10-share band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4069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+4.1%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4800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fees versus the 50-point grid</a:t>
            </a:r>
            <a:endParaRPr lang="en-US" sz="1400" dirty="0"/>
          </a:p>
        </p:txBody>
      </p:sp>
      <p:sp>
        <p:nvSpPr>
          <p:cNvPr id="10" name="pass note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55778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four policies pass every limit on 2,000 fresh paths per group. Only passing policies are compared on fees.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Scorecard: the loss limit binds, drawdown is slack</a:t>
            </a:r>
            <a:endParaRPr lang="en-US" sz="3200" dirty="0"/>
          </a:p>
        </p:txBody>
      </p:sp>
      <p:graphicFrame>
        <p:nvGraphicFramePr>
          <p:cNvPr id="9" name="scorecar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51560"/>
                <a:gridCol w="960120"/>
                <a:gridCol w="1051560"/>
                <a:gridCol w="1463040"/>
                <a:gridCol w="1554480"/>
                <a:gridCol w="1097280"/>
                <a:gridCol w="114300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Method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(b0, k)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Unique evals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Fresh fees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Worst DD CVaR (≤10%)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Worst loss CVaR (≤$50)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Min cash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Trades / yr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AI search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(0.18, 11)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$1.022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2.81%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$47.81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$201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Grid search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(0.20, 20)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$0.981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2.90%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$48.34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$184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4.4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Fixed band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(0.10, 0)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$1.210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2.55%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$44.22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$207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11.5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Daily hedge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(0, 0)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$2.251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2.48%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$44.62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$180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244.1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binding card"/>
          <p:cNvSpPr/>
          <p:nvPr/>
        </p:nvSpPr>
        <p:spPr>
          <a:xfrm>
            <a:off x="548640" y="4160520"/>
            <a:ext cx="53949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42519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Which limit decides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Every passing policy sits near 2.5–3% drawdown CVaR against a 10% limit. The $50 terminal-loss limit is what separates pass from fail.</a:t>
            </a:r>
            <a:endParaRPr lang="en-US" sz="1800" dirty="0"/>
          </a:p>
        </p:txBody>
      </p:sp>
      <p:sp>
        <p:nvSpPr>
          <p:cNvPr id="6" name="margin card"/>
          <p:cNvSpPr/>
          <p:nvPr/>
        </p:nvSpPr>
        <p:spPr>
          <a:xfrm>
            <a:off x="6217920" y="4160520"/>
            <a:ext cx="53949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46520" y="42519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Safety margin, not just pass/fail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Loss CVaR bootstrap SE ≈ $1.0. AI sits 2.0 SE inside the limit, grid 1.6 SE. Resamples breaching $50: AI 2.1%, grid 4.7%.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Is the gap real? What one run can and cannot show</a:t>
            </a:r>
            <a:endParaRPr lang="en-US" sz="3200" dirty="0"/>
          </a:p>
        </p:txBody>
      </p:sp>
      <p:sp>
        <p:nvSpPr>
          <p:cNvPr id="3" name="paired card"/>
          <p:cNvSpPr/>
          <p:nvPr/>
        </p:nvSpPr>
        <p:spPr>
          <a:xfrm>
            <a:off x="548640" y="1280160"/>
            <a:ext cx="539496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4937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What we can say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AI − grid fee gap: +$0.040 per year, 95% CI [$0.036, $0.045]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Same 2,000 paths for both, so differences are paired; correlation 0.92 cuts the standard error 3.6×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Versus fixed band: −$0.188 [−0.198, −0.179]. Versus daily: −$1.229</a:t>
            </a:r>
            <a:endParaRPr lang="en-US" sz="1500" dirty="0"/>
          </a:p>
        </p:txBody>
      </p:sp>
      <p:sp>
        <p:nvSpPr>
          <p:cNvPr id="5" name="caveat card"/>
          <p:cNvSpPr/>
          <p:nvPr/>
        </p:nvSpPr>
        <p:spPr>
          <a:xfrm>
            <a:off x="6217920" y="128016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FDF1DE"/>
          </a:solidFill>
          <a:ln w="12700">
            <a:solidFill>
              <a:srgbClr val="FDF1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46520" y="1417320"/>
            <a:ext cx="4937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What we cannot say yet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One AI run at temperature 0.6: the run-to-run spread is unmeasured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Unequal budgets: 23 unique AI evaluations vs 50 for the grid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CI covers path noise only, not selection noise or model error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89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Following the brief: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report a rate, not the best run. Next run uses 5 repeats with untouched seeds and equal unique-evaluation budgets.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Across risk appetites, AI wins only the tightest</a:t>
            </a:r>
            <a:endParaRPr lang="en-US" sz="3200" dirty="0"/>
          </a:p>
        </p:txBody>
      </p:sp>
      <p:graphicFrame>
        <p:nvGraphicFramePr>
          <p:cNvPr id="11" name="ti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4980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  <a:gridCol w="1371600"/>
                <a:gridCol w="137160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Fresh base fees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Conservative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3% / $50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Run limits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10% / $50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Balanced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5% / $75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Flexible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10% / $100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AI candidates (23)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5761A"/>
                          </a:solidFill>
                        </a:rPr>
                        <a:t>$1.044 ✓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$1.022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$0.900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$0.900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Grid search (50)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$1.064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$0.981 ✓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$0.806 ✓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$0.684 ✓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Fixed band (0.10)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$1.210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$1.210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$1.210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$1.210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Daily hedge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$2.251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$2.251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$2.251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$2.251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114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✓ = cheapest passing method in that column. Every cell shown passes on both fresh groups.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1280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−1.8%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2011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vs grid, Conservative (paired CI −$0.024 to −$0.014)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880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+31.5%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3611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vs grid, Flexible: the AI never tried wide bands</a:t>
            </a:r>
            <a:endParaRPr lang="en-US" sz="1400" dirty="0"/>
          </a:p>
        </p:txBody>
      </p:sp>
      <p:sp>
        <p:nvSpPr>
          <p:cNvPr id="9" name="tier note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480060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Read with care: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only the Run-limits column is a live AI search. The other columns re-select from saved candidates; the AI's pool was generated under the $50 limit, which tilts the looser tiers toward the grid.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the loop taught us</a:t>
            </a:r>
            <a:endParaRPr lang="en-US" sz="3200" dirty="0"/>
          </a:p>
        </p:txBody>
      </p:sp>
      <p:sp>
        <p:nvSpPr>
          <p:cNvPr id="3" name="lesson 1"/>
          <p:cNvSpPr/>
          <p:nvPr/>
        </p:nvSpPr>
        <p:spPr>
          <a:xfrm>
            <a:off x="548640" y="1280160"/>
            <a:ext cx="53949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63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The checker named the failure but not the fix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"terminal_loss_cvar failed" is true; "lower b0 or raise k" would have named the change. Without direction the model circled one region.</a:t>
            </a:r>
            <a:endParaRPr lang="en-US" sz="1500" dirty="0"/>
          </a:p>
        </p:txBody>
      </p:sp>
      <p:sp>
        <p:nvSpPr>
          <p:cNvPr id="8" name="lesson 2"/>
          <p:cNvSpPr/>
          <p:nvPr/>
        </p:nvSpPr>
        <p:spPr>
          <a:xfrm>
            <a:off x="6217920" y="1280160"/>
            <a:ext cx="53949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6446520" y="15087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508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463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Duplicates are the real budget leak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1488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54% of calls repeated a known policy, even at temperature 0.6. A ledger of tried points must also say which neighbours are untried.</a:t>
            </a:r>
            <a:endParaRPr lang="en-US" sz="1500" dirty="0"/>
          </a:p>
        </p:txBody>
      </p:sp>
      <p:sp>
        <p:nvSpPr>
          <p:cNvPr id="13" name="lesson 3"/>
          <p:cNvSpPr/>
          <p:nvPr/>
        </p:nvSpPr>
        <p:spPr>
          <a:xfrm>
            <a:off x="548640" y="3657600"/>
            <a:ext cx="53949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777240" y="3886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886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840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Short prompts kept rounds cheap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5262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Thinking off and a memory capped at 8 rows / 2,000 characters: 50 calls used 58.6k tokens, and no reply ever came back malformed.</a:t>
            </a:r>
            <a:endParaRPr lang="en-US" sz="1500" dirty="0"/>
          </a:p>
        </p:txBody>
      </p:sp>
      <p:sp>
        <p:nvSpPr>
          <p:cNvPr id="18" name="lesson 4"/>
          <p:cNvSpPr/>
          <p:nvPr/>
        </p:nvSpPr>
        <p:spPr>
          <a:xfrm>
            <a:off x="6217920" y="3657600"/>
            <a:ext cx="53949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 4"/>
          <p:cNvSpPr/>
          <p:nvPr/>
        </p:nvSpPr>
        <p:spPr>
          <a:xfrm>
            <a:off x="6446520" y="3886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3886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840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Prior winners do not transfer across limits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5262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Last version's winner (0.25, 15) opened this run and failed the tighter $50 limit at once.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Next: directional feedback, repeatable evidence</a:t>
            </a:r>
            <a:endParaRPr lang="en-US" sz="3200" dirty="0"/>
          </a:p>
        </p:txBody>
      </p:sp>
      <p:sp>
        <p:nvSpPr>
          <p:cNvPr id="3" name="badge 1"/>
          <p:cNvSpPr/>
          <p:nvPr/>
        </p:nvSpPr>
        <p:spPr>
          <a:xfrm>
            <a:off x="548640" y="1399032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99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258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Directional feedback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2344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Add the sign of the fix: e.g. 'loss CVaR over by $6.96 in more_jumps; narrower bands or larger k reduce it'.</a:t>
            </a:r>
            <a:endParaRPr lang="en-US" sz="1500" dirty="0"/>
          </a:p>
        </p:txBody>
      </p:sp>
      <p:sp>
        <p:nvSpPr>
          <p:cNvPr id="7" name="badge 2"/>
          <p:cNvSpPr/>
          <p:nvPr/>
        </p:nvSpPr>
        <p:spPr>
          <a:xfrm>
            <a:off x="548640" y="2587752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87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514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Untried-neighbour hints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4231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Return the nearest unexplored (b0, k) cells, and reject near-duplicates, not just exact ones.</a:t>
            </a:r>
            <a:endParaRPr lang="en-US" sz="1500" dirty="0"/>
          </a:p>
        </p:txBody>
      </p:sp>
      <p:sp>
        <p:nvSpPr>
          <p:cNvPr id="11" name="badge 3"/>
          <p:cNvSpPr/>
          <p:nvPr/>
        </p:nvSpPr>
        <p:spPr>
          <a:xfrm>
            <a:off x="548640" y="3776472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7764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703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Repeat and equalise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6118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5 AI runs with fresh seeds; stop each at 50 unique evaluations to match the grid.</a:t>
            </a:r>
            <a:endParaRPr lang="en-US" sz="1500" dirty="0"/>
          </a:p>
        </p:txBody>
      </p:sp>
      <p:sp>
        <p:nvSpPr>
          <p:cNvPr id="15" name="badge 4"/>
          <p:cNvSpPr/>
          <p:nvPr/>
        </p:nvSpPr>
        <p:spPr>
          <a:xfrm>
            <a:off x="548640" y="4965192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965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892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Better market and marks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80060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Jump-aware option marks; marking at 13.7% while paths realise about 17.4% total volatility biases every policy's shortfall.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822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What we hand in</a:t>
            </a:r>
            <a:endParaRPr lang="en-US" sz="4000" dirty="0"/>
          </a:p>
        </p:txBody>
      </p:sp>
      <p:sp>
        <p:nvSpPr>
          <p:cNvPr id="3" name="badge 1"/>
          <p:cNvSpPr/>
          <p:nvPr/>
        </p:nvSpPr>
        <p:spPr>
          <a:xfrm>
            <a:off x="731520" y="210312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21031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Checker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Simulator + risk evaluator: four limits per group, rejection rules and normalized violation, with the reasoning in our report</a:t>
            </a:r>
            <a:endParaRPr lang="en-US" sz="1600" dirty="0"/>
          </a:p>
        </p:txBody>
      </p:sp>
      <p:sp>
        <p:nvSpPr>
          <p:cNvPr id="7" name="badge 2"/>
          <p:cNvSpPr/>
          <p:nvPr/>
        </p:nvSpPr>
        <p:spPr>
          <a:xfrm>
            <a:off x="4389120" y="210312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0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1031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Attempt log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7432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All 50 proposals with replies, scores and rejection reasons (report-simple.json); baselines in report-baselines.json</a:t>
            </a:r>
            <a:endParaRPr lang="en-US" sz="1600" dirty="0"/>
          </a:p>
        </p:txBody>
      </p:sp>
      <p:sp>
        <p:nvSpPr>
          <p:cNvPr id="11" name="badge 3"/>
          <p:cNvSpPr/>
          <p:nvPr/>
        </p:nvSpPr>
        <p:spPr>
          <a:xfrm>
            <a:off x="8046720" y="210312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41080" y="21031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One-page note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27432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1 AI run + 3 baselines on identical paths; fee gap with confidence intervals; spread across runs not yet measured</a:t>
            </a:r>
            <a:endParaRPr lang="en-US" sz="1600" dirty="0"/>
          </a:p>
        </p:txBody>
      </p:sp>
      <p:sp>
        <p:nvSpPr>
          <p:cNvPr id="15" name="headline card"/>
          <p:cNvSpPr/>
          <p:nvPr/>
        </p:nvSpPr>
        <p:spPr>
          <a:xfrm>
            <a:off x="731520" y="4526280"/>
            <a:ext cx="10698480" cy="1143000"/>
          </a:xfrm>
          <a:prstGeom prst="roundRect">
            <a:avLst>
              <a:gd name="adj" fmla="val 64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52628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Headline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Within every risk limit, the loop cut fees 15–55% versus simple rules. A 50-point grid still won at our limits by 4%; the next gain is in the checker's feedback, not a bigger model.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Seat 16  ·  AI-based portfolio optimization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at 16 Hedging">
  <a:themeElements>
    <a:clrScheme name="Seat 16 Hedging">
      <a:dk1>
        <a:srgbClr val="0F1B2D"/>
      </a:dk1>
      <a:lt1>
        <a:srgbClr val="FFFFFF"/>
      </a:lt1>
      <a:dk2>
        <a:srgbClr val="1E3A5F"/>
      </a:dk2>
      <a:lt2>
        <a:srgbClr val="EEF2F6"/>
      </a:lt2>
      <a:accent1>
        <a:srgbClr val="F2A541"/>
      </a:accent1>
      <a:accent2>
        <a:srgbClr val="2BA7A0"/>
      </a:accent2>
      <a:accent3>
        <a:srgbClr val="5B6B7F"/>
      </a:accent3>
      <a:accent4>
        <a:srgbClr val="C8463D"/>
      </a:accent4>
      <a:accent5>
        <a:srgbClr val="2E7D4F"/>
      </a:accent5>
      <a:accent6>
        <a:srgbClr val="8FA3BA"/>
      </a:accent6>
      <a:hlink>
        <a:srgbClr val="2BA7A0"/>
      </a:hlink>
      <a:folHlink>
        <a:srgbClr val="5B6B7F"/>
      </a:folHlink>
    </a:clrScheme>
    <a:fontScheme name="Seat 16 Hedgin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portfolio optimization</dc:title>
  <dc:subject>Hack the Chip — NYU × Annapurna Labs</dc:subject>
  <dc:creator>Seat 16</dc:creator>
  <cp:lastModifiedBy>Seat 16</cp:lastModifiedBy>
  <cp:revision>1</cp:revision>
  <dcterms:created xsi:type="dcterms:W3CDTF">2026-10-10T22:18:32Z</dcterms:created>
  <dcterms:modified xsi:type="dcterms:W3CDTF">2026-10-10T22:18:32Z</dcterms:modified>
</cp:coreProperties>
</file>